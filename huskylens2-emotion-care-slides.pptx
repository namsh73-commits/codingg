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49f9f6e-69f7-5dcb-df33-3b3e041ec832}">
          <p14:sldIdLst>
            <p14:sldId id="256"/>
          </p14:sldIdLst>
        </p14:section>
        <p14:section name="① 문제 상황" id="{ac09e802-54a7-18e5-85d0-812b83218fa5}">
          <p14:sldIdLst>
            <p14:sldId id="257"/>
            <p14:sldId id="258"/>
          </p14:sldIdLst>
        </p14:section>
        <p14:section name="② 자연어 묶음" id="{d0ae8ead-1a47-e09b-03fb-9eda838d55bb}">
          <p14:sldIdLst>
            <p14:sldId id="259"/>
            <p14:sldId id="260"/>
          </p14:sldIdLst>
        </p14:section>
        <p14:section name="③ 블록 + 타이머" id="{6b02d7d5-0431-d9a3-65d1-1669d9d03aa0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5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micro:bit × HUSKYLENS 2 · AI 표정 인식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AI 표정 감지로 만드는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독거노인 안심케어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슬픈 표정이 오래 이어지거나 얼굴이 한동안 보이지 않으면 보호자에게 알려요</a:t>
            </a:r>
            <a:endParaRPr lang="en-US" sz="1800" dirty="0"/>
          </a:p>
        </p:txBody>
      </p:sp>
      <p:sp>
        <p:nvSpPr>
          <p:cNvPr id="5" name="flow step"/>
          <p:cNvSpPr txBox="1"/>
          <p:nvPr/>
        </p:nvSpPr>
        <p:spPr>
          <a:xfrm>
            <a:off x="731520" y="4343400"/>
            <a:ext cx="2286000" cy="502920"/>
          </a:xfrm>
          <a:prstGeom prst="roundRect">
            <a:avLst>
              <a:gd name="adj" fmla="val 45455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① 문제 상황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flow step"/>
          <p:cNvSpPr txBox="1"/>
          <p:nvPr/>
        </p:nvSpPr>
        <p:spPr>
          <a:xfrm>
            <a:off x="3657600" y="4343400"/>
            <a:ext cx="2286000" cy="502920"/>
          </a:xfrm>
          <a:prstGeom prst="roundRect">
            <a:avLst>
              <a:gd name="adj" fmla="val 45455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② 자연어 묶음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flow step"/>
          <p:cNvSpPr txBox="1"/>
          <p:nvPr/>
        </p:nvSpPr>
        <p:spPr>
          <a:xfrm>
            <a:off x="6583680" y="4343400"/>
            <a:ext cx="2286000" cy="502920"/>
          </a:xfrm>
          <a:prstGeom prst="roundRect">
            <a:avLst>
              <a:gd name="adj" fmla="val 45455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③ 블록 + 타이머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준비물: micro:bit 2대(어르신용·보호자용), HUSKYLENS 2, 확장 보드 · MakeCode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1216152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 문제 상황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혼자 계신 할머니, 오늘은 괜찮으실까?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문제를 구체적인 장면으로 바꿔 봅시다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1F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김 할머니는 혼자 사십니다. 멀리 사는 손녀는 매일 전화를 드리지만, 할머니는 </a:t>
            </a:r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“괜찮다”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고만 하십니다.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1F5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90779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그런데 요즘 할머니가 거실에 앉아 </a:t>
            </a:r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오랫동안 슬픈 표정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으로 계시거나, </a:t>
            </a:r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하루 종일 거실에 나오지 않는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날이 있다고 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6309360" cy="868680"/>
          </a:xfrm>
          <a:prstGeom prst="roundRect">
            <a:avLst>
              <a:gd name="adj" fmla="val 10526"/>
            </a:avLst>
          </a:prstGeom>
          <a:solidFill>
            <a:srgbClr val="F1F5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9534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손녀가 매 순간 지켜볼 수는 없습니다. 하지만 </a:t>
            </a:r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표정과 움직임의 변화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를 알 수 있다면 더 빨리 연락하거나 찾아갈 수 있습니다.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6309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❓ 카메라가 표정을 보고, 이상한 상태가 일정 시간 이상 이어질 때만 알려 줄 수 있을까?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7223760" y="1920240"/>
            <a:ext cx="443484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13" name="card heading"/>
          <p:cNvSpPr txBox="1"/>
          <p:nvPr/>
        </p:nvSpPr>
        <p:spPr>
          <a:xfrm>
            <a:off x="7452360" y="2084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문제 분해하기</a:t>
            </a:r>
            <a:endParaRPr lang="en-US" sz="1800" dirty="0"/>
          </a:p>
        </p:txBody>
      </p:sp>
      <p:sp>
        <p:nvSpPr>
          <p:cNvPr id="14" name="card dot"/>
          <p:cNvSpPr/>
          <p:nvPr/>
        </p:nvSpPr>
        <p:spPr>
          <a:xfrm>
            <a:off x="7479792" y="2642997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ard item"/>
          <p:cNvSpPr txBox="1"/>
          <p:nvPr/>
        </p:nvSpPr>
        <p:spPr>
          <a:xfrm>
            <a:off x="7680960" y="2560320"/>
            <a:ext cx="3749040" cy="53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무엇을 감지?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얼굴이 보이는지, 어떤 표정인지</a:t>
            </a:r>
            <a:endParaRPr lang="en-US" sz="1500" dirty="0"/>
          </a:p>
        </p:txBody>
      </p:sp>
      <p:sp>
        <p:nvSpPr>
          <p:cNvPr id="16" name="card dot"/>
          <p:cNvSpPr/>
          <p:nvPr/>
        </p:nvSpPr>
        <p:spPr>
          <a:xfrm>
            <a:off x="7479792" y="3266313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ard item"/>
          <p:cNvSpPr txBox="1"/>
          <p:nvPr/>
        </p:nvSpPr>
        <p:spPr>
          <a:xfrm>
            <a:off x="7680960" y="3183636"/>
            <a:ext cx="37490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언제 알릴까?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슬픈 표정이 잠깐이 아니라 계속될 때, 얼굴이 오랫동안 보이지 않을 때</a:t>
            </a:r>
            <a:endParaRPr lang="en-US" sz="1500" dirty="0"/>
          </a:p>
        </p:txBody>
      </p:sp>
      <p:sp>
        <p:nvSpPr>
          <p:cNvPr id="18" name="card dot"/>
          <p:cNvSpPr/>
          <p:nvPr/>
        </p:nvSpPr>
        <p:spPr>
          <a:xfrm>
            <a:off x="7479792" y="4137279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card item"/>
          <p:cNvSpPr txBox="1"/>
          <p:nvPr/>
        </p:nvSpPr>
        <p:spPr>
          <a:xfrm>
            <a:off x="7680960" y="4054602"/>
            <a:ext cx="3749040" cy="53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누구에게?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보호자 micro:bit로 라디오 전송</a:t>
            </a:r>
            <a:endParaRPr lang="en-US" sz="1500" dirty="0"/>
          </a:p>
        </p:txBody>
      </p:sp>
      <p:sp>
        <p:nvSpPr>
          <p:cNvPr id="20" name="card dot"/>
          <p:cNvSpPr/>
          <p:nvPr/>
        </p:nvSpPr>
        <p:spPr>
          <a:xfrm>
            <a:off x="7479792" y="4760595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card item"/>
          <p:cNvSpPr txBox="1"/>
          <p:nvPr/>
        </p:nvSpPr>
        <p:spPr>
          <a:xfrm>
            <a:off x="7680960" y="4677918"/>
            <a:ext cx="3749040" cy="284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필요한 도구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“얼마나 오래?” →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타이머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개인정보 보호: 영상은 저장하지 않고 표정 결과(번호)만 사용합니다.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2551176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 문제 상황 → 해결 아이디어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입력 → 처리 → 출력으로 정리하기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허스키렌즈2의 “표정 인식(Emotion Recognition)” 기능을 사용합니다</a:t>
            </a:r>
            <a:endParaRPr lang="en-US" sz="1600" dirty="0"/>
          </a:p>
        </p:txBody>
      </p:sp>
      <p:sp>
        <p:nvSpPr>
          <p:cNvPr id="5" name="ipo box"/>
          <p:cNvSpPr txBox="1"/>
          <p:nvPr/>
        </p:nvSpPr>
        <p:spPr>
          <a:xfrm>
            <a:off x="548640" y="18745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12BB18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입력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허스키렌즈2가 얼굴을 찾고 표정 번호(ID)를 알려 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8745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ipo box"/>
          <p:cNvSpPr txBox="1"/>
          <p:nvPr/>
        </p:nvSpPr>
        <p:spPr>
          <a:xfrm>
            <a:off x="4343400" y="18745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00A4A6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처리 (판단 + 타이머)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슬픈 표정이 몇 초째인지, 얼굴이 안 보인 지 몇 초째인지 계산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8745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ipo box"/>
          <p:cNvSpPr txBox="1"/>
          <p:nvPr/>
        </p:nvSpPr>
        <p:spPr>
          <a:xfrm>
            <a:off x="8138160" y="18745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E3008C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출력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LED 아이콘·소리, 보호자에게 라디오 “SAD” / “CHECK”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7665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1463040"/>
                <a:gridCol w="2331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A3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바로 알릴까?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A3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타이머 조건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A3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출력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A3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웃음 · 보통 표정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아니요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슬픔 타이머 리셋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웃는 얼굴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슬픈 표정 (잠깐)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아니요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10초 미만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슬픈 표정 (계속)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10초 이상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슬픈 얼굴 · 소리 · “SAD”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얼굴 안 보임 (계속)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예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30초 이상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“?” · “CHECK”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1" name="card"/>
          <p:cNvSpPr/>
          <p:nvPr/>
        </p:nvSpPr>
        <p:spPr>
          <a:xfrm>
            <a:off x="7635240" y="3291840"/>
            <a:ext cx="4023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2" name="card heading"/>
          <p:cNvSpPr txBox="1"/>
          <p:nvPr/>
        </p:nvSpPr>
        <p:spPr>
          <a:xfrm>
            <a:off x="786384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왜 타이머가 필요할까?</a:t>
            </a:r>
            <a:endParaRPr lang="en-US" sz="1800" dirty="0"/>
          </a:p>
        </p:txBody>
      </p:sp>
      <p:sp>
        <p:nvSpPr>
          <p:cNvPr id="13" name="card dot"/>
          <p:cNvSpPr/>
          <p:nvPr/>
        </p:nvSpPr>
        <p:spPr>
          <a:xfrm>
            <a:off x="7891272" y="400634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card item"/>
          <p:cNvSpPr txBox="1"/>
          <p:nvPr/>
        </p:nvSpPr>
        <p:spPr>
          <a:xfrm>
            <a:off x="8092440" y="3931920"/>
            <a:ext cx="33375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사람은 잠깐 찡그리거나 고개를 돌리기도 합니다.</a:t>
            </a:r>
            <a:endParaRPr lang="en-US" sz="1400" dirty="0"/>
          </a:p>
        </p:txBody>
      </p:sp>
      <p:sp>
        <p:nvSpPr>
          <p:cNvPr id="15" name="card dot"/>
          <p:cNvSpPr/>
          <p:nvPr/>
        </p:nvSpPr>
        <p:spPr>
          <a:xfrm>
            <a:off x="7891272" y="459663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ard item"/>
          <p:cNvSpPr txBox="1"/>
          <p:nvPr/>
        </p:nvSpPr>
        <p:spPr>
          <a:xfrm>
            <a:off x="8092440" y="4522216"/>
            <a:ext cx="33375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순간 표정만 보고 알리면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잘못된 알림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이 많아집니다.</a:t>
            </a:r>
            <a:endParaRPr lang="en-US" sz="1400" dirty="0"/>
          </a:p>
        </p:txBody>
      </p:sp>
      <p:sp>
        <p:nvSpPr>
          <p:cNvPr id="17" name="card dot"/>
          <p:cNvSpPr/>
          <p:nvPr/>
        </p:nvSpPr>
        <p:spPr>
          <a:xfrm>
            <a:off x="7891272" y="518693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card item"/>
          <p:cNvSpPr txBox="1"/>
          <p:nvPr/>
        </p:nvSpPr>
        <p:spPr>
          <a:xfrm>
            <a:off x="8092440" y="5112512"/>
            <a:ext cx="33375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“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얼마나 오래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 계속되었나”를 재면 믿을 수 있는 알림이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2871216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 자연어 묶음 준비 · 타이머 원리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MakeCode 타이머: “시작 시각”을 기억하기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「실행 시간(ms)」은 micro:bit가 켜진 뒤 흐른 시간입니다 (1초 = 1000ms)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109960" cy="594360"/>
          </a:xfrm>
          <a:prstGeom prst="roundRect">
            <a:avLst>
              <a:gd name="adj" fmla="val 18462"/>
            </a:avLst>
          </a:prstGeom>
          <a:solidFill>
            <a:srgbClr val="F1F5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경과 시간 = </a:t>
            </a:r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실행 시간(ms)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슬픔시작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  →   10000보다 크면 알림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355848"/>
            <a:ext cx="107899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8915" y="3246120"/>
            <a:ext cx="1726387" cy="256032"/>
          </a:xfrm>
          <a:prstGeom prst="roundRect">
            <a:avLst>
              <a:gd name="adj" fmla="val 21429"/>
            </a:avLst>
          </a:prstGeom>
          <a:solidFill>
            <a:srgbClr val="12BB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보통 표정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05302" y="3246120"/>
            <a:ext cx="971093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슬픔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76395" y="3246120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12BB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보통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55387" y="3246120"/>
            <a:ext cx="4963363" cy="256032"/>
          </a:xfrm>
          <a:prstGeom prst="roundRect">
            <a:avLst>
              <a:gd name="adj" fmla="val 21429"/>
            </a:avLst>
          </a:prstGeom>
          <a:solidFill>
            <a:srgbClr val="DC14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슬픈 표정 계속 ……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5302" y="2697480"/>
            <a:ext cx="0" cy="128016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0166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슬픔시작 = 실행시간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60166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4초 만에 끝 → 리셋(0)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5387" y="2697480"/>
            <a:ext cx="0" cy="128016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0251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슬픔시작 = 실행시간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0251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다시 타이머 시작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08162" y="2697480"/>
            <a:ext cx="0" cy="1280160"/>
          </a:xfrm>
          <a:prstGeom prst="line">
            <a:avLst/>
          </a:prstGeom>
          <a:noFill/>
          <a:ln w="19050">
            <a:solidFill>
              <a:srgbClr val="DC14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63026" y="2679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경과 &gt; 10초 → 알림!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63026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“SAD” 전송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48640" y="41148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1" name="card heading"/>
          <p:cNvSpPr txBox="1"/>
          <p:nvPr/>
        </p:nvSpPr>
        <p:spPr>
          <a:xfrm>
            <a:off x="777240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세 가지 규칙만 기억하세요</a:t>
            </a:r>
            <a:endParaRPr lang="en-US" sz="1800" dirty="0"/>
          </a:p>
        </p:txBody>
      </p:sp>
      <p:sp>
        <p:nvSpPr>
          <p:cNvPr id="22" name="card dot"/>
          <p:cNvSpPr/>
          <p:nvPr/>
        </p:nvSpPr>
        <p:spPr>
          <a:xfrm>
            <a:off x="804672" y="482930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card item"/>
          <p:cNvSpPr txBox="1"/>
          <p:nvPr/>
        </p:nvSpPr>
        <p:spPr>
          <a:xfrm>
            <a:off x="1005840" y="4754880"/>
            <a:ext cx="47091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시작 —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슬픔이 처음 보이면(슬픔시작 = 0일 때) 지금 시각을 저장</a:t>
            </a:r>
            <a:endParaRPr lang="en-US" sz="1400" dirty="0"/>
          </a:p>
        </p:txBody>
      </p:sp>
      <p:sp>
        <p:nvSpPr>
          <p:cNvPr id="24" name="card dot"/>
          <p:cNvSpPr/>
          <p:nvPr/>
        </p:nvSpPr>
        <p:spPr>
          <a:xfrm>
            <a:off x="804672" y="541959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ard item"/>
          <p:cNvSpPr txBox="1"/>
          <p:nvPr/>
        </p:nvSpPr>
        <p:spPr>
          <a:xfrm>
            <a:off x="1005840" y="5345176"/>
            <a:ext cx="47091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계산 —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슬픔이 계속되면 지금 − 슬픔시작으로 경과 시간 계산</a:t>
            </a:r>
            <a:endParaRPr lang="en-US" sz="1400" dirty="0"/>
          </a:p>
        </p:txBody>
      </p:sp>
      <p:sp>
        <p:nvSpPr>
          <p:cNvPr id="26" name="card dot"/>
          <p:cNvSpPr/>
          <p:nvPr/>
        </p:nvSpPr>
        <p:spPr>
          <a:xfrm>
            <a:off x="804672" y="600989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card item"/>
          <p:cNvSpPr txBox="1"/>
          <p:nvPr/>
        </p:nvSpPr>
        <p:spPr>
          <a:xfrm>
            <a:off x="1005840" y="5935472"/>
            <a:ext cx="4709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리셋 —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다른 표정이 나오면 슬픔시작 = 0으로 되돌림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263640" y="41148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9" name="card heading"/>
          <p:cNvSpPr txBox="1"/>
          <p:nvPr/>
        </p:nvSpPr>
        <p:spPr>
          <a:xfrm>
            <a:off x="6492240" y="4279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같은 방법으로 “부재 타이머”</a:t>
            </a:r>
            <a:endParaRPr lang="en-US" sz="1800" dirty="0"/>
          </a:p>
        </p:txBody>
      </p:sp>
      <p:sp>
        <p:nvSpPr>
          <p:cNvPr id="30" name="card dot"/>
          <p:cNvSpPr/>
          <p:nvPr/>
        </p:nvSpPr>
        <p:spPr>
          <a:xfrm>
            <a:off x="6519672" y="482930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card item"/>
          <p:cNvSpPr txBox="1"/>
          <p:nvPr/>
        </p:nvSpPr>
        <p:spPr>
          <a:xfrm>
            <a:off x="6720840" y="4754880"/>
            <a:ext cx="4709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얼굴이 보일 때마다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마지막확인 = 지금 시각</a:t>
            </a:r>
            <a:endParaRPr lang="en-US" sz="1400" dirty="0"/>
          </a:p>
        </p:txBody>
      </p:sp>
      <p:sp>
        <p:nvSpPr>
          <p:cNvPr id="32" name="card dot"/>
          <p:cNvSpPr/>
          <p:nvPr/>
        </p:nvSpPr>
        <p:spPr>
          <a:xfrm>
            <a:off x="6519672" y="518845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card item"/>
          <p:cNvSpPr txBox="1"/>
          <p:nvPr/>
        </p:nvSpPr>
        <p:spPr>
          <a:xfrm>
            <a:off x="6720840" y="5114036"/>
            <a:ext cx="47091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얼굴이 안 보이면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지금 − 마지막확인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이 30초를 넘는지 확인</a:t>
            </a:r>
            <a:endParaRPr lang="en-US" sz="1400" dirty="0"/>
          </a:p>
        </p:txBody>
      </p:sp>
      <p:sp>
        <p:nvSpPr>
          <p:cNvPr id="34" name="card dot"/>
          <p:cNvSpPr/>
          <p:nvPr/>
        </p:nvSpPr>
        <p:spPr>
          <a:xfrm>
            <a:off x="6519672" y="577875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card item"/>
          <p:cNvSpPr txBox="1"/>
          <p:nvPr/>
        </p:nvSpPr>
        <p:spPr>
          <a:xfrm>
            <a:off x="6720840" y="5704332"/>
            <a:ext cx="47091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수업에서는 10초·30초, 실제로는 수십 분~몇 시간으로 늘려요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 자연어 묶음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자연어 알고리즘을 4개의 묶음으로</a:t>
            </a:r>
            <a:endParaRPr lang="en-US" sz="3200" dirty="0"/>
          </a:p>
        </p:txBody>
      </p:sp>
      <p:sp>
        <p:nvSpPr>
          <p:cNvPr id="4" name="group"/>
          <p:cNvSpPr txBox="1"/>
          <p:nvPr/>
        </p:nvSpPr>
        <p:spPr>
          <a:xfrm>
            <a:off x="594360" y="149047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묶음 ① 준비 — 시작하면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700784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728216"/>
            <a:ext cx="502920" cy="187452"/>
          </a:xfrm>
          <a:prstGeom prst="rect">
            <a:avLst/>
          </a:prstGeom>
          <a:solidFill>
            <a:srgbClr val="7B87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준비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700784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I2C 시작, “표정 인식” 선택, 라디오 그룹 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943100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70532"/>
            <a:ext cx="502920" cy="187452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저장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1943100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슬픔시작 = 0, 마지막확인 = 지금 시각</a:t>
            </a:r>
            <a:endParaRPr lang="en-US" sz="1400" dirty="0"/>
          </a:p>
        </p:txBody>
      </p:sp>
      <p:sp>
        <p:nvSpPr>
          <p:cNvPr id="12" name="group"/>
          <p:cNvSpPr txBox="1"/>
          <p:nvPr/>
        </p:nvSpPr>
        <p:spPr>
          <a:xfrm>
            <a:off x="594360" y="22128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묶음 ② 반복 — 무한반복 실행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" y="2423160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450592"/>
            <a:ext cx="502920" cy="187452"/>
          </a:xfrm>
          <a:prstGeom prst="rect">
            <a:avLst/>
          </a:prstGeom>
          <a:solidFill>
            <a:srgbClr val="10A81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반복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2423160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계속 반복한다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665476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92908"/>
            <a:ext cx="502920" cy="187452"/>
          </a:xfrm>
          <a:prstGeom prst="rect">
            <a:avLst/>
          </a:prstGeom>
          <a:solidFill>
            <a:srgbClr val="1E90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입력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121408" y="2665476"/>
            <a:ext cx="56509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표정 인식 결과를 가져온다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2907792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2935224"/>
            <a:ext cx="502920" cy="187452"/>
          </a:xfrm>
          <a:prstGeom prst="rect">
            <a:avLst/>
          </a:prstGeom>
          <a:solidFill>
            <a:srgbClr val="00A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121408" y="2907792"/>
            <a:ext cx="56509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얼굴이 보이면 → 〔표정 확인〕 묶음 실행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150108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177540"/>
            <a:ext cx="502920" cy="187452"/>
          </a:xfrm>
          <a:prstGeom prst="rect">
            <a:avLst/>
          </a:prstGeom>
          <a:solidFill>
            <a:srgbClr val="00A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121408" y="3150108"/>
            <a:ext cx="56509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얼굴이 없으면 → 〔부재 확인〕 묶음 실행</a:t>
            </a:r>
            <a:endParaRPr lang="en-US" sz="1400" dirty="0"/>
          </a:p>
        </p:txBody>
      </p:sp>
      <p:sp>
        <p:nvSpPr>
          <p:cNvPr id="27" name="group"/>
          <p:cNvSpPr txBox="1"/>
          <p:nvPr/>
        </p:nvSpPr>
        <p:spPr>
          <a:xfrm>
            <a:off x="594360" y="341985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묶음 ③ 표정 확인 — 슬픔 타이머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30168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3630168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3657600"/>
            <a:ext cx="502920" cy="187452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저장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72768" y="3630168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마지막확인 = 지금 시각, e = 가운데 얼굴의 표정 ID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3872484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899916"/>
            <a:ext cx="502920" cy="187452"/>
          </a:xfrm>
          <a:prstGeom prst="rect">
            <a:avLst/>
          </a:prstGeom>
          <a:solidFill>
            <a:srgbClr val="00A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572768" y="3872484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e가 슬픔이면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114800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1792" y="4114800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09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508760" y="4142232"/>
            <a:ext cx="502920" cy="187452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저장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121408" y="4114800"/>
            <a:ext cx="56509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슬픔시작이 0이면 슬픔시작 = 지금 시각 (타이머 시작)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4357116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508760" y="4384548"/>
            <a:ext cx="502920" cy="187452"/>
          </a:xfrm>
          <a:prstGeom prst="rect">
            <a:avLst/>
          </a:prstGeom>
          <a:solidFill>
            <a:srgbClr val="00A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121408" y="4357116"/>
            <a:ext cx="56509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지금 − 슬픔시작 &gt; 10초 이면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4599432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1792" y="4599432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057400" y="4626864"/>
            <a:ext cx="502920" cy="187452"/>
          </a:xfrm>
          <a:prstGeom prst="rect">
            <a:avLst/>
          </a:prstGeom>
          <a:solidFill>
            <a:srgbClr val="F070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출력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670048" y="4599432"/>
            <a:ext cx="51023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슬픈 아이콘, 소리, 라디오 “SAD”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21792" y="4841748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60120" y="4869180"/>
            <a:ext cx="502920" cy="187452"/>
          </a:xfrm>
          <a:prstGeom prst="rect">
            <a:avLst/>
          </a:prstGeom>
          <a:solidFill>
            <a:srgbClr val="DC14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저장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572768" y="4841748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아니면(웃음·보통) 슬픔시작 = 0 (리셋), 웃는 아이콘</a:t>
            </a:r>
            <a:endParaRPr lang="en-US" sz="1400" dirty="0"/>
          </a:p>
        </p:txBody>
      </p:sp>
      <p:sp>
        <p:nvSpPr>
          <p:cNvPr id="49" name="group"/>
          <p:cNvSpPr txBox="1"/>
          <p:nvPr/>
        </p:nvSpPr>
        <p:spPr>
          <a:xfrm>
            <a:off x="594360" y="51114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묶음 ④ 부재 확인 — 부재 타이머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5321808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5321808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60120" y="5349240"/>
            <a:ext cx="502920" cy="187452"/>
          </a:xfrm>
          <a:prstGeom prst="rect">
            <a:avLst/>
          </a:prstGeom>
          <a:solidFill>
            <a:srgbClr val="00A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판단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572768" y="5321808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지금 − 마지막확인 &gt; 30초 이면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21792" y="5564124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508760" y="5591556"/>
            <a:ext cx="502920" cy="187452"/>
          </a:xfrm>
          <a:prstGeom prst="rect">
            <a:avLst/>
          </a:prstGeom>
          <a:solidFill>
            <a:srgbClr val="F070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출력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2121408" y="5564124"/>
            <a:ext cx="565099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“?” 표시, 라디오 “CHECK”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48640" y="5806440"/>
            <a:ext cx="7223760" cy="242316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21792" y="5806440"/>
            <a:ext cx="3200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60120" y="5833872"/>
            <a:ext cx="502920" cy="187452"/>
          </a:xfrm>
          <a:prstGeom prst="rect">
            <a:avLst/>
          </a:prstGeom>
          <a:solidFill>
            <a:srgbClr val="F070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출력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572768" y="5806440"/>
            <a:ext cx="61996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아니면 LED 지우기</a:t>
            </a:r>
            <a:endParaRPr lang="en-US" sz="1400" dirty="0"/>
          </a:p>
        </p:txBody>
      </p:sp>
      <p:sp>
        <p:nvSpPr>
          <p:cNvPr id="61" name="card"/>
          <p:cNvSpPr/>
          <p:nvPr/>
        </p:nvSpPr>
        <p:spPr>
          <a:xfrm>
            <a:off x="809244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62" name="card heading"/>
          <p:cNvSpPr txBox="1"/>
          <p:nvPr/>
        </p:nvSpPr>
        <p:spPr>
          <a:xfrm>
            <a:off x="832104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핵심 아이디어</a:t>
            </a:r>
            <a:endParaRPr lang="en-US" sz="1800" dirty="0"/>
          </a:p>
        </p:txBody>
      </p:sp>
      <p:sp>
        <p:nvSpPr>
          <p:cNvPr id="63" name="card dot"/>
          <p:cNvSpPr/>
          <p:nvPr/>
        </p:nvSpPr>
        <p:spPr>
          <a:xfrm>
            <a:off x="8348472" y="217754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4" name="card item"/>
          <p:cNvSpPr txBox="1"/>
          <p:nvPr/>
        </p:nvSpPr>
        <p:spPr>
          <a:xfrm>
            <a:off x="8549640" y="2103120"/>
            <a:ext cx="2880360" cy="72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긴 알고리즘은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역할별 묶음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으로 나누면 읽기 쉽습니다. 묶음 ③·④는 MakeCode의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함수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가 됩니다.</a:t>
            </a:r>
            <a:endParaRPr lang="en-US" sz="1400" dirty="0"/>
          </a:p>
        </p:txBody>
      </p:sp>
      <p:sp>
        <p:nvSpPr>
          <p:cNvPr id="65" name="card dot"/>
          <p:cNvSpPr/>
          <p:nvPr/>
        </p:nvSpPr>
        <p:spPr>
          <a:xfrm>
            <a:off x="8348472" y="299897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6" name="card item"/>
          <p:cNvSpPr txBox="1"/>
          <p:nvPr/>
        </p:nvSpPr>
        <p:spPr>
          <a:xfrm>
            <a:off x="8549640" y="2924556"/>
            <a:ext cx="2880360" cy="72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슬픔 표정 ID는 먼저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수 출력 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로 직접 확인하세요. 블록의 6은 예시입니다.</a:t>
            </a:r>
            <a:endParaRPr lang="en-US" sz="1400" dirty="0"/>
          </a:p>
        </p:txBody>
      </p:sp>
      <p:sp>
        <p:nvSpPr>
          <p:cNvPr id="67" name="card dot"/>
          <p:cNvSpPr/>
          <p:nvPr/>
        </p:nvSpPr>
        <p:spPr>
          <a:xfrm>
            <a:off x="8348472" y="382041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8" name="card item"/>
          <p:cNvSpPr txBox="1"/>
          <p:nvPr/>
        </p:nvSpPr>
        <p:spPr>
          <a:xfrm>
            <a:off x="8549640" y="3745992"/>
            <a:ext cx="28803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기준 10초·30초도 예시입니다. 측정 → 기준 정하기 → 판단!</a:t>
            </a:r>
            <a:endParaRPr lang="en-US" sz="1400" dirty="0"/>
          </a:p>
        </p:txBody>
      </p:sp>
      <p:sp>
        <p:nvSpPr>
          <p:cNvPr id="69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1865376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 블록 + 타이머 ·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MakeCode 블록 ① 준비와 반복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묶음 ① → 시작하면, 묶음 ② → 무한반복 실행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36000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함수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116544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455D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95483" y="1371600"/>
            <a:ext cx="438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라디오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76027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300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70547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변수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551091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C14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45611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논리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26155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A4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0674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기본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218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E90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83161" y="1371600"/>
            <a:ext cx="73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huskylens2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63705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2BB18"/>
          </a:solidFill>
          <a:ln/>
        </p:spPr>
      </p:sp>
      <p:sp>
        <p:nvSpPr>
          <p:cNvPr id="17" name="block bar"/>
          <p:cNvSpPr/>
          <p:nvPr/>
        </p:nvSpPr>
        <p:spPr>
          <a:xfrm>
            <a:off x="548640" y="2048256"/>
            <a:ext cx="182880" cy="162763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8" name="block"/>
          <p:cNvSpPr txBox="1"/>
          <p:nvPr/>
        </p:nvSpPr>
        <p:spPr>
          <a:xfrm>
            <a:off x="548640" y="1920240"/>
            <a:ext cx="832031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시작하면</a:t>
            </a:r>
            <a:endParaRPr lang="en-US" sz="1100" dirty="0"/>
          </a:p>
        </p:txBody>
      </p:sp>
      <p:sp>
        <p:nvSpPr>
          <p:cNvPr id="19" name="block"/>
          <p:cNvSpPr txBox="1"/>
          <p:nvPr/>
        </p:nvSpPr>
        <p:spPr>
          <a:xfrm>
            <a:off x="731520" y="2203704"/>
            <a:ext cx="2482687" cy="256032"/>
          </a:xfrm>
          <a:prstGeom prst="roundRect">
            <a:avLst>
              <a:gd name="adj" fmla="val 17857"/>
            </a:avLst>
          </a:prstGeom>
          <a:solidFill>
            <a:srgbClr val="12BB1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initialize I2C until success</a:t>
            </a:r>
            <a:endParaRPr lang="en-US" sz="1100" dirty="0"/>
          </a:p>
        </p:txBody>
      </p:sp>
      <p:sp>
        <p:nvSpPr>
          <p:cNvPr id="20" name="block"/>
          <p:cNvSpPr txBox="1"/>
          <p:nvPr/>
        </p:nvSpPr>
        <p:spPr>
          <a:xfrm>
            <a:off x="731520" y="2487168"/>
            <a:ext cx="3208666" cy="256032"/>
          </a:xfrm>
          <a:prstGeom prst="roundRect">
            <a:avLst>
              <a:gd name="adj" fmla="val 17857"/>
            </a:avLst>
          </a:prstGeom>
          <a:solidFill>
            <a:srgbClr val="12BB1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switch algorithm  emotion recognition</a:t>
            </a:r>
            <a:endParaRPr lang="en-US" sz="1100" dirty="0"/>
          </a:p>
        </p:txBody>
      </p:sp>
      <p:sp>
        <p:nvSpPr>
          <p:cNvPr id="21" name="block"/>
          <p:cNvSpPr txBox="1"/>
          <p:nvPr/>
        </p:nvSpPr>
        <p:spPr>
          <a:xfrm>
            <a:off x="731520" y="2770632"/>
            <a:ext cx="1857512" cy="256032"/>
          </a:xfrm>
          <a:prstGeom prst="roundRect">
            <a:avLst>
              <a:gd name="adj" fmla="val 17857"/>
            </a:avLst>
          </a:prstGeom>
          <a:solidFill>
            <a:srgbClr val="E3008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라디오 그룹을 1 로 설정</a:t>
            </a:r>
            <a:endParaRPr lang="en-US" sz="1100" dirty="0"/>
          </a:p>
        </p:txBody>
      </p:sp>
      <p:sp>
        <p:nvSpPr>
          <p:cNvPr id="22" name="block"/>
          <p:cNvSpPr txBox="1"/>
          <p:nvPr/>
        </p:nvSpPr>
        <p:spPr>
          <a:xfrm>
            <a:off x="731520" y="3054096"/>
            <a:ext cx="1633612" cy="256032"/>
          </a:xfrm>
          <a:prstGeom prst="roundRect">
            <a:avLst>
              <a:gd name="adj" fmla="val 17857"/>
            </a:avLst>
          </a:prstGeom>
          <a:solidFill>
            <a:srgbClr val="DC143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슬픔시작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에 0 저장</a:t>
            </a:r>
            <a:endParaRPr lang="en-US" sz="1100" dirty="0"/>
          </a:p>
        </p:txBody>
      </p:sp>
      <p:sp>
        <p:nvSpPr>
          <p:cNvPr id="23" name="block"/>
          <p:cNvSpPr txBox="1"/>
          <p:nvPr/>
        </p:nvSpPr>
        <p:spPr>
          <a:xfrm>
            <a:off x="731520" y="3337560"/>
            <a:ext cx="2824838" cy="256032"/>
          </a:xfrm>
          <a:prstGeom prst="roundRect">
            <a:avLst>
              <a:gd name="adj" fmla="val 17857"/>
            </a:avLst>
          </a:prstGeom>
          <a:solidFill>
            <a:srgbClr val="DC143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마지막확인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에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highlight>
                  <a:srgbClr val="C9CED6"/>
                </a:highlight>
              </a:rPr>
              <a:t> 실행 시간(ms)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저장</a:t>
            </a:r>
            <a:endParaRPr lang="en-US" sz="1100" dirty="0"/>
          </a:p>
        </p:txBody>
      </p:sp>
      <p:sp>
        <p:nvSpPr>
          <p:cNvPr id="24" name="block foot"/>
          <p:cNvSpPr/>
          <p:nvPr/>
        </p:nvSpPr>
        <p:spPr>
          <a:xfrm>
            <a:off x="548640" y="3621024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1E90FF"/>
          </a:solidFill>
          <a:ln/>
        </p:spPr>
      </p:sp>
      <p:sp>
        <p:nvSpPr>
          <p:cNvPr id="25" name="notes"/>
          <p:cNvSpPr txBox="1"/>
          <p:nvPr/>
        </p:nvSpPr>
        <p:spPr>
          <a:xfrm>
            <a:off x="548640" y="404164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1단계: 수 출력 e로 표정마다 ID를 확인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실행 시간(ms)은 ‘입력’ 메뉴 아래쪽에 있어요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마지막확인을 지금 시각으로 시작해야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    켜자마자 “CHECK”가 나가지 않아요</a:t>
            </a:r>
            <a:endParaRPr lang="en-US" sz="1200" dirty="0"/>
          </a:p>
        </p:txBody>
      </p:sp>
      <p:sp>
        <p:nvSpPr>
          <p:cNvPr id="26" name="block bar"/>
          <p:cNvSpPr/>
          <p:nvPr/>
        </p:nvSpPr>
        <p:spPr>
          <a:xfrm>
            <a:off x="4526280" y="2048256"/>
            <a:ext cx="182880" cy="20574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7" name="block"/>
          <p:cNvSpPr txBox="1"/>
          <p:nvPr/>
        </p:nvSpPr>
        <p:spPr>
          <a:xfrm>
            <a:off x="4526280" y="1920240"/>
            <a:ext cx="1181935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무한반복 실행</a:t>
            </a:r>
            <a:endParaRPr lang="en-US" sz="1100" dirty="0"/>
          </a:p>
        </p:txBody>
      </p:sp>
      <p:sp>
        <p:nvSpPr>
          <p:cNvPr id="28" name="block"/>
          <p:cNvSpPr txBox="1"/>
          <p:nvPr/>
        </p:nvSpPr>
        <p:spPr>
          <a:xfrm>
            <a:off x="4709160" y="2203704"/>
            <a:ext cx="2653278" cy="256032"/>
          </a:xfrm>
          <a:prstGeom prst="roundRect">
            <a:avLst>
              <a:gd name="adj" fmla="val 17857"/>
            </a:avLst>
          </a:prstGeom>
          <a:solidFill>
            <a:srgbClr val="12BB1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emotion recognition result</a:t>
            </a:r>
            <a:endParaRPr lang="en-US" sz="1100" dirty="0"/>
          </a:p>
        </p:txBody>
      </p:sp>
      <p:sp>
        <p:nvSpPr>
          <p:cNvPr id="29" name="block bar"/>
          <p:cNvSpPr/>
          <p:nvPr/>
        </p:nvSpPr>
        <p:spPr>
          <a:xfrm>
            <a:off x="4709160" y="2615184"/>
            <a:ext cx="182880" cy="1060704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30" name="block"/>
          <p:cNvSpPr txBox="1"/>
          <p:nvPr/>
        </p:nvSpPr>
        <p:spPr>
          <a:xfrm>
            <a:off x="4709160" y="2487168"/>
            <a:ext cx="3435474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만약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12BB18"/>
                </a:highlight>
              </a:rPr>
              <a:t> available emotion recognition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이면</a:t>
            </a:r>
            <a:endParaRPr lang="en-US" sz="1100" dirty="0"/>
          </a:p>
        </p:txBody>
      </p:sp>
      <p:sp>
        <p:nvSpPr>
          <p:cNvPr id="31" name="block"/>
          <p:cNvSpPr txBox="1"/>
          <p:nvPr/>
        </p:nvSpPr>
        <p:spPr>
          <a:xfrm>
            <a:off x="4892040" y="2770632"/>
            <a:ext cx="1657844" cy="256032"/>
          </a:xfrm>
          <a:prstGeom prst="roundRect">
            <a:avLst>
              <a:gd name="adj" fmla="val 17857"/>
            </a:avLst>
          </a:prstGeom>
          <a:solidFill>
            <a:srgbClr val="3455DB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함수 호출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5B76F0"/>
                </a:highlight>
              </a:rPr>
              <a:t> 표정확인 </a:t>
            </a:r>
            <a:endParaRPr lang="en-US" sz="1100" dirty="0"/>
          </a:p>
        </p:txBody>
      </p:sp>
      <p:sp>
        <p:nvSpPr>
          <p:cNvPr id="32" name="block"/>
          <p:cNvSpPr txBox="1"/>
          <p:nvPr/>
        </p:nvSpPr>
        <p:spPr>
          <a:xfrm>
            <a:off x="4709160" y="3054096"/>
            <a:ext cx="678887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아니면</a:t>
            </a:r>
            <a:endParaRPr lang="en-US" sz="1100" dirty="0"/>
          </a:p>
        </p:txBody>
      </p:sp>
      <p:sp>
        <p:nvSpPr>
          <p:cNvPr id="33" name="block"/>
          <p:cNvSpPr txBox="1"/>
          <p:nvPr/>
        </p:nvSpPr>
        <p:spPr>
          <a:xfrm>
            <a:off x="4892040" y="3337560"/>
            <a:ext cx="1657844" cy="256032"/>
          </a:xfrm>
          <a:prstGeom prst="roundRect">
            <a:avLst>
              <a:gd name="adj" fmla="val 17857"/>
            </a:avLst>
          </a:prstGeom>
          <a:solidFill>
            <a:srgbClr val="3455DB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함수 호출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5B76F0"/>
                </a:highlight>
              </a:rPr>
              <a:t> 부재확인 </a:t>
            </a:r>
            <a:endParaRPr lang="en-US" sz="1100" dirty="0"/>
          </a:p>
        </p:txBody>
      </p:sp>
      <p:sp>
        <p:nvSpPr>
          <p:cNvPr id="34" name="block foot"/>
          <p:cNvSpPr/>
          <p:nvPr/>
        </p:nvSpPr>
        <p:spPr>
          <a:xfrm>
            <a:off x="4709160" y="3621024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00A4A6"/>
          </a:solidFill>
          <a:ln/>
        </p:spPr>
      </p:sp>
      <p:sp>
        <p:nvSpPr>
          <p:cNvPr id="35" name="block"/>
          <p:cNvSpPr txBox="1"/>
          <p:nvPr/>
        </p:nvSpPr>
        <p:spPr>
          <a:xfrm>
            <a:off x="4709160" y="3767328"/>
            <a:ext cx="1516331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일시중지 200 (ms)</a:t>
            </a:r>
            <a:endParaRPr lang="en-US" sz="1100" dirty="0"/>
          </a:p>
        </p:txBody>
      </p:sp>
      <p:sp>
        <p:nvSpPr>
          <p:cNvPr id="36" name="block foot"/>
          <p:cNvSpPr/>
          <p:nvPr/>
        </p:nvSpPr>
        <p:spPr>
          <a:xfrm>
            <a:off x="4526280" y="4050792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1E90FF"/>
          </a:solidFill>
          <a:ln/>
        </p:spPr>
      </p:sp>
      <p:sp>
        <p:nvSpPr>
          <p:cNvPr id="37" name="card"/>
          <p:cNvSpPr/>
          <p:nvPr/>
        </p:nvSpPr>
        <p:spPr>
          <a:xfrm>
            <a:off x="8229600" y="1920240"/>
            <a:ext cx="34290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38" name="card heading"/>
          <p:cNvSpPr txBox="1"/>
          <p:nvPr/>
        </p:nvSpPr>
        <p:spPr>
          <a:xfrm>
            <a:off x="845820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묶음 → 함수</a:t>
            </a:r>
            <a:endParaRPr lang="en-US" sz="1800" dirty="0"/>
          </a:p>
        </p:txBody>
      </p:sp>
      <p:sp>
        <p:nvSpPr>
          <p:cNvPr id="39" name="card dot"/>
          <p:cNvSpPr/>
          <p:nvPr/>
        </p:nvSpPr>
        <p:spPr>
          <a:xfrm>
            <a:off x="8485632" y="263474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card item"/>
          <p:cNvSpPr txBox="1"/>
          <p:nvPr/>
        </p:nvSpPr>
        <p:spPr>
          <a:xfrm>
            <a:off x="8686800" y="2560320"/>
            <a:ext cx="274320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무한반복 안이 짧아져서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전체 흐름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이 한눈에 보여요.</a:t>
            </a:r>
            <a:endParaRPr lang="en-US" sz="1400" dirty="0"/>
          </a:p>
        </p:txBody>
      </p:sp>
      <p:sp>
        <p:nvSpPr>
          <p:cNvPr id="41" name="card dot"/>
          <p:cNvSpPr/>
          <p:nvPr/>
        </p:nvSpPr>
        <p:spPr>
          <a:xfrm>
            <a:off x="8485632" y="322503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card item"/>
          <p:cNvSpPr txBox="1"/>
          <p:nvPr/>
        </p:nvSpPr>
        <p:spPr>
          <a:xfrm>
            <a:off x="8686800" y="3150616"/>
            <a:ext cx="274320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함수는 ‘고급 → 함수 → 함수 만들기’에서 만들어요.</a:t>
            </a:r>
            <a:endParaRPr lang="en-US" sz="1400" dirty="0"/>
          </a:p>
        </p:txBody>
      </p:sp>
      <p:sp>
        <p:nvSpPr>
          <p:cNvPr id="43" name="card dot"/>
          <p:cNvSpPr/>
          <p:nvPr/>
        </p:nvSpPr>
        <p:spPr>
          <a:xfrm>
            <a:off x="8485632" y="381533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card item"/>
          <p:cNvSpPr txBox="1"/>
          <p:nvPr/>
        </p:nvSpPr>
        <p:spPr>
          <a:xfrm>
            <a:off x="8686800" y="3740912"/>
            <a:ext cx="274320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200ms 쉬기: 허스키렌즈가 결과를 갱신할 시간을 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1865376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 블록 + 타이머 ·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MakeCode 블록 ② 두 개의 타이머 함수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묶음 ③ → 함수 표정확인,  묶음 ④ → 함수 부재확인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20420" y="1371600"/>
            <a:ext cx="438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라디오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000964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300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495483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음악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76027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630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70547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변수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551091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C14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45611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논리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26155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A4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0674" y="1371600"/>
            <a:ext cx="32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기본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218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E90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83161" y="1371600"/>
            <a:ext cx="73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huskylens2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63705" y="140817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2BB18"/>
          </a:solidFill>
          <a:ln/>
        </p:spPr>
      </p:sp>
      <p:sp>
        <p:nvSpPr>
          <p:cNvPr id="17" name="block bar"/>
          <p:cNvSpPr/>
          <p:nvPr/>
        </p:nvSpPr>
        <p:spPr>
          <a:xfrm>
            <a:off x="548640" y="2002536"/>
            <a:ext cx="182880" cy="4050792"/>
          </a:xfrm>
          <a:prstGeom prst="rect">
            <a:avLst/>
          </a:prstGeom>
          <a:solidFill>
            <a:srgbClr val="3455DB"/>
          </a:solidFill>
          <a:ln/>
        </p:spPr>
      </p:sp>
      <p:sp>
        <p:nvSpPr>
          <p:cNvPr id="18" name="block"/>
          <p:cNvSpPr txBox="1"/>
          <p:nvPr/>
        </p:nvSpPr>
        <p:spPr>
          <a:xfrm>
            <a:off x="548640" y="1874520"/>
            <a:ext cx="1181935" cy="256032"/>
          </a:xfrm>
          <a:prstGeom prst="roundRect">
            <a:avLst>
              <a:gd name="adj" fmla="val 17857"/>
            </a:avLst>
          </a:prstGeom>
          <a:solidFill>
            <a:srgbClr val="3455DB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함수 표정확인</a:t>
            </a:r>
            <a:endParaRPr lang="en-US" sz="1100" dirty="0"/>
          </a:p>
        </p:txBody>
      </p:sp>
      <p:sp>
        <p:nvSpPr>
          <p:cNvPr id="19" name="block"/>
          <p:cNvSpPr txBox="1"/>
          <p:nvPr/>
        </p:nvSpPr>
        <p:spPr>
          <a:xfrm>
            <a:off x="731520" y="2157984"/>
            <a:ext cx="2824838" cy="256032"/>
          </a:xfrm>
          <a:prstGeom prst="roundRect">
            <a:avLst>
              <a:gd name="adj" fmla="val 17857"/>
            </a:avLst>
          </a:prstGeom>
          <a:solidFill>
            <a:srgbClr val="DC143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마지막확인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에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highlight>
                  <a:srgbClr val="C9CED6"/>
                </a:highlight>
              </a:rPr>
              <a:t> 실행 시간(ms)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저장</a:t>
            </a:r>
            <a:endParaRPr lang="en-US" sz="1100" dirty="0"/>
          </a:p>
        </p:txBody>
      </p:sp>
      <p:sp>
        <p:nvSpPr>
          <p:cNvPr id="20" name="block"/>
          <p:cNvSpPr txBox="1"/>
          <p:nvPr/>
        </p:nvSpPr>
        <p:spPr>
          <a:xfrm>
            <a:off x="731520" y="2441448"/>
            <a:ext cx="3368595" cy="256032"/>
          </a:xfrm>
          <a:prstGeom prst="roundRect">
            <a:avLst>
              <a:gd name="adj" fmla="val 17857"/>
            </a:avLst>
          </a:prstGeom>
          <a:solidFill>
            <a:srgbClr val="DC143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e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에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12BB18"/>
                </a:highlight>
              </a:rPr>
              <a:t> emotion nearest to center 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저장</a:t>
            </a:r>
            <a:endParaRPr lang="en-US" sz="1100" dirty="0"/>
          </a:p>
        </p:txBody>
      </p:sp>
      <p:sp>
        <p:nvSpPr>
          <p:cNvPr id="21" name="block bar"/>
          <p:cNvSpPr/>
          <p:nvPr/>
        </p:nvSpPr>
        <p:spPr>
          <a:xfrm>
            <a:off x="731520" y="2852928"/>
            <a:ext cx="182880" cy="3054096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22" name="block"/>
          <p:cNvSpPr txBox="1"/>
          <p:nvPr/>
        </p:nvSpPr>
        <p:spPr>
          <a:xfrm>
            <a:off x="731520" y="2724912"/>
            <a:ext cx="1388388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만약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e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= 6 이면</a:t>
            </a:r>
            <a:endParaRPr lang="en-US" sz="1100" dirty="0"/>
          </a:p>
        </p:txBody>
      </p:sp>
      <p:sp>
        <p:nvSpPr>
          <p:cNvPr id="23" name="block bar"/>
          <p:cNvSpPr/>
          <p:nvPr/>
        </p:nvSpPr>
        <p:spPr>
          <a:xfrm>
            <a:off x="914400" y="3136392"/>
            <a:ext cx="182880" cy="493776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24" name="block"/>
          <p:cNvSpPr txBox="1"/>
          <p:nvPr/>
        </p:nvSpPr>
        <p:spPr>
          <a:xfrm>
            <a:off x="914400" y="3008376"/>
            <a:ext cx="1915668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만약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슬픔시작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= 0 이면</a:t>
            </a:r>
            <a:endParaRPr lang="en-US" sz="1100" dirty="0"/>
          </a:p>
        </p:txBody>
      </p:sp>
      <p:sp>
        <p:nvSpPr>
          <p:cNvPr id="25" name="block"/>
          <p:cNvSpPr txBox="1"/>
          <p:nvPr/>
        </p:nvSpPr>
        <p:spPr>
          <a:xfrm>
            <a:off x="1097280" y="3291840"/>
            <a:ext cx="2671694" cy="256032"/>
          </a:xfrm>
          <a:prstGeom prst="roundRect">
            <a:avLst>
              <a:gd name="adj" fmla="val 17857"/>
            </a:avLst>
          </a:prstGeom>
          <a:solidFill>
            <a:srgbClr val="DC143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슬픔시작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에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highlight>
                  <a:srgbClr val="C9CED6"/>
                </a:highlight>
              </a:rPr>
              <a:t> 실행 시간(ms)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저장</a:t>
            </a:r>
            <a:endParaRPr lang="en-US" sz="1100" dirty="0"/>
          </a:p>
        </p:txBody>
      </p:sp>
      <p:sp>
        <p:nvSpPr>
          <p:cNvPr id="26" name="block foot"/>
          <p:cNvSpPr/>
          <p:nvPr/>
        </p:nvSpPr>
        <p:spPr>
          <a:xfrm>
            <a:off x="914400" y="3575304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00A4A6"/>
          </a:solidFill>
          <a:ln/>
        </p:spPr>
      </p:sp>
      <p:sp>
        <p:nvSpPr>
          <p:cNvPr id="27" name="block bar"/>
          <p:cNvSpPr/>
          <p:nvPr/>
        </p:nvSpPr>
        <p:spPr>
          <a:xfrm>
            <a:off x="914400" y="3849624"/>
            <a:ext cx="182880" cy="1060704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28" name="block"/>
          <p:cNvSpPr txBox="1"/>
          <p:nvPr/>
        </p:nvSpPr>
        <p:spPr>
          <a:xfrm>
            <a:off x="914400" y="3721608"/>
            <a:ext cx="3620603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만약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highlight>
                  <a:srgbClr val="C9CED6"/>
                </a:highlight>
              </a:rPr>
              <a:t> 실행 시간(ms)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−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슬픔시작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&gt; 10000 이면</a:t>
            </a:r>
            <a:endParaRPr lang="en-US" sz="1100" dirty="0"/>
          </a:p>
        </p:txBody>
      </p:sp>
      <p:sp>
        <p:nvSpPr>
          <p:cNvPr id="29" name="block"/>
          <p:cNvSpPr txBox="1"/>
          <p:nvPr/>
        </p:nvSpPr>
        <p:spPr>
          <a:xfrm>
            <a:off x="1097280" y="4005072"/>
            <a:ext cx="1371911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아이콘 출력  Sad</a:t>
            </a:r>
            <a:endParaRPr lang="en-US" sz="1100" dirty="0"/>
          </a:p>
        </p:txBody>
      </p:sp>
      <p:sp>
        <p:nvSpPr>
          <p:cNvPr id="30" name="block"/>
          <p:cNvSpPr txBox="1"/>
          <p:nvPr/>
        </p:nvSpPr>
        <p:spPr>
          <a:xfrm>
            <a:off x="1097280" y="4288536"/>
            <a:ext cx="1927299" cy="256032"/>
          </a:xfrm>
          <a:prstGeom prst="roundRect">
            <a:avLst>
              <a:gd name="adj" fmla="val 17857"/>
            </a:avLst>
          </a:prstGeom>
          <a:solidFill>
            <a:srgbClr val="E6302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멜로디 재생  power down</a:t>
            </a:r>
            <a:endParaRPr lang="en-US" sz="1100" dirty="0"/>
          </a:p>
        </p:txBody>
      </p:sp>
      <p:sp>
        <p:nvSpPr>
          <p:cNvPr id="31" name="block"/>
          <p:cNvSpPr txBox="1"/>
          <p:nvPr/>
        </p:nvSpPr>
        <p:spPr>
          <a:xfrm>
            <a:off x="1097280" y="4572000"/>
            <a:ext cx="2087228" cy="256032"/>
          </a:xfrm>
          <a:prstGeom prst="roundRect">
            <a:avLst>
              <a:gd name="adj" fmla="val 17857"/>
            </a:avLst>
          </a:prstGeom>
          <a:solidFill>
            <a:srgbClr val="E3008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라디오 전송: 문자열 "SAD"</a:t>
            </a:r>
            <a:endParaRPr lang="en-US" sz="1100" dirty="0"/>
          </a:p>
        </p:txBody>
      </p:sp>
      <p:sp>
        <p:nvSpPr>
          <p:cNvPr id="32" name="block foot"/>
          <p:cNvSpPr/>
          <p:nvPr/>
        </p:nvSpPr>
        <p:spPr>
          <a:xfrm>
            <a:off x="914400" y="4855464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00A4A6"/>
          </a:solidFill>
          <a:ln/>
        </p:spPr>
      </p:sp>
      <p:sp>
        <p:nvSpPr>
          <p:cNvPr id="33" name="block"/>
          <p:cNvSpPr txBox="1"/>
          <p:nvPr/>
        </p:nvSpPr>
        <p:spPr>
          <a:xfrm>
            <a:off x="731520" y="5001768"/>
            <a:ext cx="678887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아니면</a:t>
            </a:r>
            <a:endParaRPr lang="en-US" sz="1100" dirty="0"/>
          </a:p>
        </p:txBody>
      </p:sp>
      <p:sp>
        <p:nvSpPr>
          <p:cNvPr id="34" name="block"/>
          <p:cNvSpPr txBox="1"/>
          <p:nvPr/>
        </p:nvSpPr>
        <p:spPr>
          <a:xfrm>
            <a:off x="914400" y="5285232"/>
            <a:ext cx="1633612" cy="256032"/>
          </a:xfrm>
          <a:prstGeom prst="roundRect">
            <a:avLst>
              <a:gd name="adj" fmla="val 17857"/>
            </a:avLst>
          </a:prstGeom>
          <a:solidFill>
            <a:srgbClr val="DC143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슬픔시작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에 0 저장</a:t>
            </a:r>
            <a:endParaRPr lang="en-US" sz="1100" dirty="0"/>
          </a:p>
        </p:txBody>
      </p:sp>
      <p:sp>
        <p:nvSpPr>
          <p:cNvPr id="35" name="block"/>
          <p:cNvSpPr txBox="1"/>
          <p:nvPr/>
        </p:nvSpPr>
        <p:spPr>
          <a:xfrm>
            <a:off x="914400" y="5568696"/>
            <a:ext cx="1542501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아이콘 출력  Happy</a:t>
            </a:r>
            <a:endParaRPr lang="en-US" sz="1100" dirty="0"/>
          </a:p>
        </p:txBody>
      </p:sp>
      <p:sp>
        <p:nvSpPr>
          <p:cNvPr id="36" name="block foot"/>
          <p:cNvSpPr/>
          <p:nvPr/>
        </p:nvSpPr>
        <p:spPr>
          <a:xfrm>
            <a:off x="731520" y="5852160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00A4A6"/>
          </a:solidFill>
          <a:ln/>
        </p:spPr>
      </p:sp>
      <p:sp>
        <p:nvSpPr>
          <p:cNvPr id="37" name="block foot"/>
          <p:cNvSpPr/>
          <p:nvPr/>
        </p:nvSpPr>
        <p:spPr>
          <a:xfrm>
            <a:off x="548640" y="5998464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3455DB"/>
          </a:solidFill>
          <a:ln/>
        </p:spPr>
      </p:sp>
      <p:sp>
        <p:nvSpPr>
          <p:cNvPr id="38" name="block bar"/>
          <p:cNvSpPr/>
          <p:nvPr/>
        </p:nvSpPr>
        <p:spPr>
          <a:xfrm>
            <a:off x="6309360" y="2002536"/>
            <a:ext cx="182880" cy="1773936"/>
          </a:xfrm>
          <a:prstGeom prst="rect">
            <a:avLst/>
          </a:prstGeom>
          <a:solidFill>
            <a:srgbClr val="3455DB"/>
          </a:solidFill>
          <a:ln/>
        </p:spPr>
      </p:sp>
      <p:sp>
        <p:nvSpPr>
          <p:cNvPr id="39" name="block"/>
          <p:cNvSpPr txBox="1"/>
          <p:nvPr/>
        </p:nvSpPr>
        <p:spPr>
          <a:xfrm>
            <a:off x="6309360" y="1874520"/>
            <a:ext cx="1181935" cy="256032"/>
          </a:xfrm>
          <a:prstGeom prst="roundRect">
            <a:avLst>
              <a:gd name="adj" fmla="val 17857"/>
            </a:avLst>
          </a:prstGeom>
          <a:solidFill>
            <a:srgbClr val="3455DB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함수 부재확인</a:t>
            </a:r>
            <a:endParaRPr lang="en-US" sz="1100" dirty="0"/>
          </a:p>
        </p:txBody>
      </p:sp>
      <p:sp>
        <p:nvSpPr>
          <p:cNvPr id="40" name="block bar"/>
          <p:cNvSpPr/>
          <p:nvPr/>
        </p:nvSpPr>
        <p:spPr>
          <a:xfrm>
            <a:off x="6492240" y="2286000"/>
            <a:ext cx="182880" cy="1344168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41" name="block"/>
          <p:cNvSpPr txBox="1"/>
          <p:nvPr/>
        </p:nvSpPr>
        <p:spPr>
          <a:xfrm>
            <a:off x="6492240" y="2157984"/>
            <a:ext cx="3773747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만약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highlight>
                  <a:srgbClr val="C9CED6"/>
                </a:highlight>
              </a:rPr>
              <a:t> 실행 시간(ms)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−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마지막확인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&gt; 30000 이면</a:t>
            </a:r>
            <a:endParaRPr lang="en-US" sz="1100" dirty="0"/>
          </a:p>
        </p:txBody>
      </p:sp>
      <p:sp>
        <p:nvSpPr>
          <p:cNvPr id="42" name="block"/>
          <p:cNvSpPr txBox="1"/>
          <p:nvPr/>
        </p:nvSpPr>
        <p:spPr>
          <a:xfrm>
            <a:off x="6675120" y="2441448"/>
            <a:ext cx="1328294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문자열 출력 "?"</a:t>
            </a:r>
            <a:endParaRPr lang="en-US" sz="1100" dirty="0"/>
          </a:p>
        </p:txBody>
      </p:sp>
      <p:sp>
        <p:nvSpPr>
          <p:cNvPr id="43" name="block"/>
          <p:cNvSpPr txBox="1"/>
          <p:nvPr/>
        </p:nvSpPr>
        <p:spPr>
          <a:xfrm>
            <a:off x="6675120" y="2724912"/>
            <a:ext cx="2257818" cy="256032"/>
          </a:xfrm>
          <a:prstGeom prst="roundRect">
            <a:avLst>
              <a:gd name="adj" fmla="val 17857"/>
            </a:avLst>
          </a:prstGeom>
          <a:solidFill>
            <a:srgbClr val="E3008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라디오 전송: 문자열 "CHECK"</a:t>
            </a:r>
            <a:endParaRPr lang="en-US" sz="1100" dirty="0"/>
          </a:p>
        </p:txBody>
      </p:sp>
      <p:sp>
        <p:nvSpPr>
          <p:cNvPr id="44" name="block"/>
          <p:cNvSpPr txBox="1"/>
          <p:nvPr/>
        </p:nvSpPr>
        <p:spPr>
          <a:xfrm>
            <a:off x="6492240" y="3008376"/>
            <a:ext cx="678887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아니면</a:t>
            </a:r>
            <a:endParaRPr lang="en-US" sz="1100" dirty="0"/>
          </a:p>
        </p:txBody>
      </p:sp>
      <p:sp>
        <p:nvSpPr>
          <p:cNvPr id="45" name="block"/>
          <p:cNvSpPr txBox="1"/>
          <p:nvPr/>
        </p:nvSpPr>
        <p:spPr>
          <a:xfrm>
            <a:off x="6675120" y="3291840"/>
            <a:ext cx="1481438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LED 스크린 지우기</a:t>
            </a:r>
            <a:endParaRPr lang="en-US" sz="1100" dirty="0"/>
          </a:p>
        </p:txBody>
      </p:sp>
      <p:sp>
        <p:nvSpPr>
          <p:cNvPr id="46" name="block foot"/>
          <p:cNvSpPr/>
          <p:nvPr/>
        </p:nvSpPr>
        <p:spPr>
          <a:xfrm>
            <a:off x="6492240" y="3575304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00A4A6"/>
          </a:solidFill>
          <a:ln/>
        </p:spPr>
      </p:sp>
      <p:sp>
        <p:nvSpPr>
          <p:cNvPr id="47" name="block foot"/>
          <p:cNvSpPr/>
          <p:nvPr/>
        </p:nvSpPr>
        <p:spPr>
          <a:xfrm>
            <a:off x="6309360" y="3721608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3455DB"/>
          </a:solidFill>
          <a:ln/>
        </p:spPr>
      </p:sp>
      <p:sp>
        <p:nvSpPr>
          <p:cNvPr id="48" name="notes"/>
          <p:cNvSpPr txBox="1"/>
          <p:nvPr/>
        </p:nvSpPr>
        <p:spPr>
          <a:xfrm>
            <a:off x="6309360" y="4187952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6은 예시 ID — 내 허스키렌즈2에서 슬픈 표정의 ID로 바꾸세요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10000ms = 10초, 30000ms = 30초 (수업용 기준값)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다른 표정이 나오면 슬픔시작 = 0 → 타이머 리셋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알림이 계속 반복되면? 알림 후 슬픔시작 = 0으로 바꿔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 txBox="1"/>
          <p:nvPr/>
        </p:nvSpPr>
        <p:spPr>
          <a:xfrm>
            <a:off x="548640" y="365760"/>
            <a:ext cx="1865376" cy="292608"/>
          </a:xfrm>
          <a:prstGeom prst="roundRect">
            <a:avLst>
              <a:gd name="adj" fmla="val 4687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 블록 + 타이머 ·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보호자 micro:bit와 테스트 계획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두 번째 micro:bit는 라디오로 받은 문자열에 따라 알려 줍니다</a:t>
            </a:r>
            <a:endParaRPr lang="en-US" sz="1600" dirty="0"/>
          </a:p>
        </p:txBody>
      </p:sp>
      <p:sp>
        <p:nvSpPr>
          <p:cNvPr id="5" name="block bar"/>
          <p:cNvSpPr/>
          <p:nvPr/>
        </p:nvSpPr>
        <p:spPr>
          <a:xfrm>
            <a:off x="548640" y="2048256"/>
            <a:ext cx="182880" cy="2057400"/>
          </a:xfrm>
          <a:prstGeom prst="rect">
            <a:avLst/>
          </a:prstGeom>
          <a:solidFill>
            <a:srgbClr val="E3008C"/>
          </a:solidFill>
          <a:ln/>
        </p:spPr>
      </p:sp>
      <p:sp>
        <p:nvSpPr>
          <p:cNvPr id="6" name="block"/>
          <p:cNvSpPr txBox="1"/>
          <p:nvPr/>
        </p:nvSpPr>
        <p:spPr>
          <a:xfrm>
            <a:off x="548640" y="1920240"/>
            <a:ext cx="2698833" cy="256032"/>
          </a:xfrm>
          <a:prstGeom prst="roundRect">
            <a:avLst>
              <a:gd name="adj" fmla="val 17857"/>
            </a:avLst>
          </a:prstGeom>
          <a:solidFill>
            <a:srgbClr val="E3008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라디오 수신하면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receivedString </a:t>
            </a:r>
            <a:endParaRPr lang="en-US" sz="1100" dirty="0"/>
          </a:p>
        </p:txBody>
      </p:sp>
      <p:sp>
        <p:nvSpPr>
          <p:cNvPr id="7" name="block bar"/>
          <p:cNvSpPr/>
          <p:nvPr/>
        </p:nvSpPr>
        <p:spPr>
          <a:xfrm>
            <a:off x="731520" y="2331720"/>
            <a:ext cx="182880" cy="1627632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8" name="block"/>
          <p:cNvSpPr txBox="1"/>
          <p:nvPr/>
        </p:nvSpPr>
        <p:spPr>
          <a:xfrm>
            <a:off x="731520" y="2203704"/>
            <a:ext cx="2838407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만약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receivedString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= "SAD" 이면</a:t>
            </a:r>
            <a:endParaRPr lang="en-US" sz="1100" dirty="0"/>
          </a:p>
        </p:txBody>
      </p:sp>
      <p:sp>
        <p:nvSpPr>
          <p:cNvPr id="9" name="block"/>
          <p:cNvSpPr txBox="1"/>
          <p:nvPr/>
        </p:nvSpPr>
        <p:spPr>
          <a:xfrm>
            <a:off x="914400" y="2487168"/>
            <a:ext cx="1371911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아이콘 출력  Sad</a:t>
            </a:r>
            <a:endParaRPr lang="en-US" sz="1100" dirty="0"/>
          </a:p>
        </p:txBody>
      </p:sp>
      <p:sp>
        <p:nvSpPr>
          <p:cNvPr id="10" name="block"/>
          <p:cNvSpPr txBox="1"/>
          <p:nvPr/>
        </p:nvSpPr>
        <p:spPr>
          <a:xfrm>
            <a:off x="914400" y="2770632"/>
            <a:ext cx="1671413" cy="256032"/>
          </a:xfrm>
          <a:prstGeom prst="roundRect">
            <a:avLst>
              <a:gd name="adj" fmla="val 17857"/>
            </a:avLst>
          </a:prstGeom>
          <a:solidFill>
            <a:srgbClr val="E6302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멜로디 재생  ba ding</a:t>
            </a:r>
            <a:endParaRPr lang="en-US" sz="1100" dirty="0"/>
          </a:p>
        </p:txBody>
      </p:sp>
      <p:sp>
        <p:nvSpPr>
          <p:cNvPr id="11" name="block"/>
          <p:cNvSpPr txBox="1"/>
          <p:nvPr/>
        </p:nvSpPr>
        <p:spPr>
          <a:xfrm>
            <a:off x="731520" y="3054096"/>
            <a:ext cx="3665190" cy="256032"/>
          </a:xfrm>
          <a:prstGeom prst="roundRect">
            <a:avLst>
              <a:gd name="adj" fmla="val 17857"/>
            </a:avLst>
          </a:prstGeom>
          <a:solidFill>
            <a:srgbClr val="00A4A6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아니면서 만약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EF4B6B"/>
                </a:highlight>
              </a:rPr>
              <a:t> receivedString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= "CHECK" 이면</a:t>
            </a:r>
            <a:endParaRPr lang="en-US" sz="1100" dirty="0"/>
          </a:p>
        </p:txBody>
      </p:sp>
      <p:sp>
        <p:nvSpPr>
          <p:cNvPr id="12" name="block"/>
          <p:cNvSpPr txBox="1"/>
          <p:nvPr/>
        </p:nvSpPr>
        <p:spPr>
          <a:xfrm>
            <a:off x="914400" y="3337560"/>
            <a:ext cx="1328294" cy="256032"/>
          </a:xfrm>
          <a:prstGeom prst="roundRect">
            <a:avLst>
              <a:gd name="adj" fmla="val 17857"/>
            </a:avLst>
          </a:prstGeom>
          <a:solidFill>
            <a:srgbClr val="1E90FF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문자열 출력 "?"</a:t>
            </a:r>
            <a:endParaRPr lang="en-US" sz="1100" dirty="0"/>
          </a:p>
        </p:txBody>
      </p:sp>
      <p:sp>
        <p:nvSpPr>
          <p:cNvPr id="13" name="block"/>
          <p:cNvSpPr txBox="1"/>
          <p:nvPr/>
        </p:nvSpPr>
        <p:spPr>
          <a:xfrm>
            <a:off x="914400" y="3621024"/>
            <a:ext cx="1723754" cy="256032"/>
          </a:xfrm>
          <a:prstGeom prst="roundRect">
            <a:avLst>
              <a:gd name="adj" fmla="val 17857"/>
            </a:avLst>
          </a:prstGeom>
          <a:solidFill>
            <a:srgbClr val="E63022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음 재생  중간 C 1 박자</a:t>
            </a:r>
            <a:endParaRPr lang="en-US" sz="1100" dirty="0"/>
          </a:p>
        </p:txBody>
      </p:sp>
      <p:sp>
        <p:nvSpPr>
          <p:cNvPr id="14" name="block foot"/>
          <p:cNvSpPr/>
          <p:nvPr/>
        </p:nvSpPr>
        <p:spPr>
          <a:xfrm>
            <a:off x="731520" y="3904488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00A4A6"/>
          </a:solidFill>
          <a:ln/>
        </p:spPr>
      </p:sp>
      <p:sp>
        <p:nvSpPr>
          <p:cNvPr id="15" name="block foot"/>
          <p:cNvSpPr/>
          <p:nvPr/>
        </p:nvSpPr>
        <p:spPr>
          <a:xfrm>
            <a:off x="548640" y="4050792"/>
            <a:ext cx="1005840" cy="118872"/>
          </a:xfrm>
          <a:prstGeom prst="roundRect">
            <a:avLst>
              <a:gd name="adj" fmla="val 30769"/>
            </a:avLst>
          </a:prstGeom>
          <a:solidFill>
            <a:srgbClr val="E3008C"/>
          </a:solidFill>
          <a:ln/>
        </p:spPr>
      </p:sp>
      <p:sp>
        <p:nvSpPr>
          <p:cNvPr id="16" name="notes"/>
          <p:cNvSpPr txBox="1"/>
          <p:nvPr/>
        </p:nvSpPr>
        <p:spPr>
          <a:xfrm>
            <a:off x="548640" y="44714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※ 두 micro:bit의 라디오 그룹 번호를 같게(1) 맞추세요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5120640" y="1920240"/>
            <a:ext cx="65379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8" name="card heading"/>
          <p:cNvSpPr txBox="1"/>
          <p:nvPr/>
        </p:nvSpPr>
        <p:spPr>
          <a:xfrm>
            <a:off x="5349240" y="2084832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테스트 체크리스트</a:t>
            </a:r>
            <a:endParaRPr lang="en-US" sz="1800" dirty="0"/>
          </a:p>
        </p:txBody>
      </p:sp>
      <p:sp>
        <p:nvSpPr>
          <p:cNvPr id="19" name="card dot"/>
          <p:cNvSpPr/>
          <p:nvPr/>
        </p:nvSpPr>
        <p:spPr>
          <a:xfrm>
            <a:off x="5376672" y="263474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ard item"/>
          <p:cNvSpPr txBox="1"/>
          <p:nvPr/>
        </p:nvSpPr>
        <p:spPr>
          <a:xfrm>
            <a:off x="5577840" y="2560320"/>
            <a:ext cx="5852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웃는 얼굴 → 웃는 아이콘, 알림 없음</a:t>
            </a:r>
            <a:endParaRPr lang="en-US" sz="1400" dirty="0"/>
          </a:p>
        </p:txBody>
      </p:sp>
      <p:sp>
        <p:nvSpPr>
          <p:cNvPr id="21" name="card dot"/>
          <p:cNvSpPr/>
          <p:nvPr/>
        </p:nvSpPr>
        <p:spPr>
          <a:xfrm>
            <a:off x="5376672" y="299389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card item"/>
          <p:cNvSpPr txBox="1"/>
          <p:nvPr/>
        </p:nvSpPr>
        <p:spPr>
          <a:xfrm>
            <a:off x="5577840" y="2919476"/>
            <a:ext cx="5852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슬픈 표정 5초 → 다시 웃기 → 알림 없음 (타이머 리셋 확인)</a:t>
            </a:r>
            <a:endParaRPr lang="en-US" sz="1400" dirty="0"/>
          </a:p>
        </p:txBody>
      </p:sp>
      <p:sp>
        <p:nvSpPr>
          <p:cNvPr id="23" name="card dot"/>
          <p:cNvSpPr/>
          <p:nvPr/>
        </p:nvSpPr>
        <p:spPr>
          <a:xfrm>
            <a:off x="5376672" y="335305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card item"/>
          <p:cNvSpPr txBox="1"/>
          <p:nvPr/>
        </p:nvSpPr>
        <p:spPr>
          <a:xfrm>
            <a:off x="5577840" y="3278632"/>
            <a:ext cx="5852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슬픈 표정 10초 이상 → 보호자 쪽 Sad + 소리</a:t>
            </a:r>
            <a:endParaRPr lang="en-US" sz="1400" dirty="0"/>
          </a:p>
        </p:txBody>
      </p:sp>
      <p:sp>
        <p:nvSpPr>
          <p:cNvPr id="25" name="card dot"/>
          <p:cNvSpPr/>
          <p:nvPr/>
        </p:nvSpPr>
        <p:spPr>
          <a:xfrm>
            <a:off x="5376672" y="3712210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card item"/>
          <p:cNvSpPr txBox="1"/>
          <p:nvPr/>
        </p:nvSpPr>
        <p:spPr>
          <a:xfrm>
            <a:off x="5577840" y="3637788"/>
            <a:ext cx="5852160" cy="49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카메라 앞에서 30초 이상 사라지기 → 보호자 쪽 “?”, 다시 나타나면 멈춤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5120640" y="4389120"/>
            <a:ext cx="65379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8" name="card heading"/>
          <p:cNvSpPr txBox="1"/>
          <p:nvPr/>
        </p:nvSpPr>
        <p:spPr>
          <a:xfrm>
            <a:off x="5349240" y="4553712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더 생각해 보기</a:t>
            </a:r>
            <a:endParaRPr lang="en-US" sz="1800" dirty="0"/>
          </a:p>
        </p:txBody>
      </p:sp>
      <p:sp>
        <p:nvSpPr>
          <p:cNvPr id="29" name="card dot"/>
          <p:cNvSpPr/>
          <p:nvPr/>
        </p:nvSpPr>
        <p:spPr>
          <a:xfrm>
            <a:off x="5376672" y="510362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card item"/>
          <p:cNvSpPr txBox="1"/>
          <p:nvPr/>
        </p:nvSpPr>
        <p:spPr>
          <a:xfrm>
            <a:off x="5577840" y="5029200"/>
            <a:ext cx="5852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슬픔 말고 화남·놀람도 함께 감지하려면?</a:t>
            </a:r>
            <a:endParaRPr lang="en-US" sz="1400" dirty="0"/>
          </a:p>
        </p:txBody>
      </p:sp>
      <p:sp>
        <p:nvSpPr>
          <p:cNvPr id="31" name="card dot"/>
          <p:cNvSpPr/>
          <p:nvPr/>
        </p:nvSpPr>
        <p:spPr>
          <a:xfrm>
            <a:off x="5376672" y="5462778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card item"/>
          <p:cNvSpPr txBox="1"/>
          <p:nvPr/>
        </p:nvSpPr>
        <p:spPr>
          <a:xfrm>
            <a:off x="5577840" y="5388356"/>
            <a:ext cx="5852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밤 시간에는 부재 알림을 끄려면 무엇이 더 필요할까?</a:t>
            </a:r>
            <a:endParaRPr lang="en-US" sz="1400" dirty="0"/>
          </a:p>
        </p:txBody>
      </p:sp>
      <p:sp>
        <p:nvSpPr>
          <p:cNvPr id="33" name="card dot"/>
          <p:cNvSpPr/>
          <p:nvPr/>
        </p:nvSpPr>
        <p:spPr>
          <a:xfrm>
            <a:off x="5376672" y="5821934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card item"/>
          <p:cNvSpPr txBox="1"/>
          <p:nvPr/>
        </p:nvSpPr>
        <p:spPr>
          <a:xfrm>
            <a:off x="5577840" y="5747512"/>
            <a:ext cx="5852160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카메라만 믿어도 될까? 버튼 “괜찮아요” 응답을 더한다면?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otion Care">
  <a:themeElements>
    <a:clrScheme name="Emotion Care">
      <a:dk1>
        <a:srgbClr val="1F2937"/>
      </a:dk1>
      <a:lt1>
        <a:srgbClr val="FFFFFF"/>
      </a:lt1>
      <a:dk2>
        <a:srgbClr val="6B7280"/>
      </a:dk2>
      <a:lt2>
        <a:srgbClr val="E5F4EC"/>
      </a:lt2>
      <a:accent1>
        <a:srgbClr val="16A36A"/>
      </a:accent1>
      <a:accent2>
        <a:srgbClr val="1E90FF"/>
      </a:accent2>
      <a:accent3>
        <a:srgbClr val="00A4A6"/>
      </a:accent3>
      <a:accent4>
        <a:srgbClr val="DC143C"/>
      </a:accent4>
      <a:accent5>
        <a:srgbClr val="F07020"/>
      </a:accent5>
      <a:accent6>
        <a:srgbClr val="E3008C"/>
      </a:accent6>
      <a:hlink>
        <a:srgbClr val="1E90FF"/>
      </a:hlink>
      <a:folHlink>
        <a:srgbClr val="3455DB"/>
      </a:folHlink>
    </a:clrScheme>
    <a:fontScheme name="Emotion Ca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표정 감지로 만드는 독거노인 안심케어</dc:title>
  <dc:subject>PptxGenJS Presentation</dc:subject>
  <dc:creator>PptxGenJS</dc:creator>
  <cp:lastModifiedBy>PptxGenJS</cp:lastModifiedBy>
  <cp:revision>1</cp:revision>
  <dcterms:created xsi:type="dcterms:W3CDTF">2026-10-30T08:02:00Z</dcterms:created>
  <dcterms:modified xsi:type="dcterms:W3CDTF">2026-10-30T08:02:00Z</dcterms:modified>
</cp:coreProperties>
</file>